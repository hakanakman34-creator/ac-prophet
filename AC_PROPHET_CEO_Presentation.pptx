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1780215" cy="73152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10241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FFFFF"/>
                </a:solidFill>
                <a:latin typeface="Segoe UI"/>
              </a:rPr>
              <a:t>AC PROPHET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2100" b="1" i="0">
                <a:solidFill>
                  <a:srgbClr val="4A90E2"/>
                </a:solidFill>
                <a:latin typeface="Segoe UI"/>
              </a:rPr>
              <a:t>Heatwave-Driven Demand &amp; Service Capacity Analysis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718096"/>
                </a:solidFill>
                <a:latin typeface="Segoe UI"/>
              </a:rPr>
              <a:t>3-Year Historical Study · Istanbul HVAC Market · 2023–2025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383280"/>
            <a:ext cx="10241280" cy="2514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30936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>
                <a:solidFill>
                  <a:srgbClr val="718096"/>
                </a:solidFill>
                <a:latin typeface="Segoe UI"/>
              </a:rPr>
              <a:t>Samsung HVAC Business Development  ·  AI Agent Group  ·  Confidential – For CEO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01  |  Volume Growth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3-year demand explosion driven by rising temperatures and market expansion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6858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115568"/>
            <a:ext cx="4434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115568"/>
            <a:ext cx="44348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62671" y="1225295"/>
            <a:ext cx="4105655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E51A4"/>
                </a:solidFill>
                <a:latin typeface="Segoe UI"/>
              </a:rPr>
              <a:t>The Numbers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2023: 11,200 jobs (Baseline season)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2024: 21,900 jobs (+95% Year-on-Year)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2025: 31,600 jobs (+44% YoY / ×2.8 in 2 yrs)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337560"/>
            <a:ext cx="44348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3337560"/>
            <a:ext cx="44348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1" y="3447288"/>
            <a:ext cx="410565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4A261"/>
                </a:solidFill>
                <a:latin typeface="Segoe UI"/>
              </a:rPr>
              <a:t>Why It Matters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Rapid growth masks daily weather signals in pooled analysis — a classic Simpson's Paradox.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Each year must be modelled independently to reveal the true temp→demand correlation.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Forecasting models must be recalibrated seasonally to avoid systemic under-estimation.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Volume Growth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02  |  Weekly Seasonality &amp; The Weekend Effect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Sunday shutdowns mask real temperature signals — 7-day smoothing is required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722376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8120" y="1115568"/>
            <a:ext cx="41148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18120" y="1115568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82712" y="1225295"/>
            <a:ext cx="37856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E51A4"/>
                </a:solidFill>
                <a:latin typeface="Segoe UI"/>
              </a:rPr>
              <a:t>Weekday Peak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Mon–Wed average: 282–286 new postings/day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Completions hold steady at 263–278 installations/day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2880360"/>
            <a:ext cx="4114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2880360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2" y="2990088"/>
            <a:ext cx="37856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3946"/>
                </a:solidFill>
                <a:latin typeface="Segoe UI"/>
              </a:rPr>
              <a:t>The Sunday Shutdown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Postings crash to 51/day on Sundays (-82%)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Completions drop to 42/day on Sundays (-85%)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425696"/>
            <a:ext cx="4114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18120" y="4425696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2712" y="4535424"/>
            <a:ext cx="37856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DC653"/>
                </a:solidFill>
                <a:latin typeface="Segoe UI"/>
              </a:rPr>
              <a:t>Forecasting Fix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7-day rolling average removes the noise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2023 smoothed correlation: r = 0.78 (very strong)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Weekly Seasonality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03  |  Temperature → Demand Correlation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Statistical proof: every degree matters for HVAC installation demand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685800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498079" y="1115568"/>
            <a:ext cx="44348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79" y="1115568"/>
            <a:ext cx="44348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62671" y="1225295"/>
            <a:ext cx="4105655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E51A4"/>
                </a:solidFill>
                <a:latin typeface="Segoe UI"/>
              </a:rPr>
              <a:t>Correlation Metrics (7-day Smoothed)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2023: Apparent Temp vs Demand   r = 0.783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2023: Apparent Temp vs Completions  r = 0.777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2025: Temp vs Completions   r = 0.474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971800"/>
            <a:ext cx="44348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971800"/>
            <a:ext cx="44348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2671" y="3081528"/>
            <a:ext cx="4105655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4A261"/>
                </a:solidFill>
                <a:latin typeface="Segoe UI"/>
              </a:rPr>
              <a:t>What Drives It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Apparent Temperature = Dry-bulb temp + Humidity effect (Steadman)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Humidity amplifies perceived heat — the true trigger for AC purchase decisions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28°C apparent temp is the key inflection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4828032"/>
            <a:ext cx="44348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4828032"/>
            <a:ext cx="44348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62671" y="4937760"/>
            <a:ext cx="4105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DC653"/>
                </a:solidFill>
                <a:latin typeface="Segoe UI"/>
              </a:rPr>
              <a:t>Key Takeaway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Temperature is the single most reliable predictor of HVAC service demand volume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Correlation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04  |  Capacity Bottlenecks &amp; Lead Time Stretch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Heatwaves saturate technician teams — backlogs grow, customers wait longer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722376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8120" y="1115568"/>
            <a:ext cx="411480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18120" y="1115568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82712" y="1225295"/>
            <a:ext cx="37856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4A90E2"/>
                </a:solidFill>
                <a:latin typeface="Segoe UI"/>
              </a:rPr>
              <a:t>Cool Weather (&lt;22°C)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Median lead time: 0 days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90th percentile: ≤3 days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Technician capacity is underutilised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278892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2788920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2" y="2898648"/>
            <a:ext cx="378561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4A261"/>
                </a:solidFill>
                <a:latin typeface="Segoe UI"/>
              </a:rPr>
              <a:t>Hot Weather (28-31°C)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Median lead time: 2 days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90th percentile: 6-10 days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279392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18120" y="4279392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2712" y="4389120"/>
            <a:ext cx="378561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3946"/>
                </a:solidFill>
                <a:latin typeface="Segoe UI"/>
              </a:rPr>
              <a:t>Extremely Hot (&gt;31°C)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Median lead time: 3 days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10% of customers wait over 7 days!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Bottleneck Analysis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05  |  The 28°C Threshold Effect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Demand uplifts sharply once apparent temperature exceeds 28°C — our key alert threshold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722376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818120" y="1115568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818120" y="1115568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82712" y="1225295"/>
            <a:ext cx="37856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E51A4"/>
                </a:solidFill>
                <a:latin typeface="Segoe UI"/>
              </a:rPr>
              <a:t>Uplift at Key Thresholds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&gt;26°C App. Temp:  +5.7% demand uplift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&gt;28°C App. Temp: +12.4% demand uplift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&gt;32°C App. Temp: +10.1% demand uplift</a:t>
            </a:r>
          </a:p>
        </p:txBody>
      </p:sp>
      <p:sp>
        <p:nvSpPr>
          <p:cNvPr id="8" name="Rectangle 7"/>
          <p:cNvSpPr/>
          <p:nvPr/>
        </p:nvSpPr>
        <p:spPr>
          <a:xfrm>
            <a:off x="7818120" y="2834640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2834640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82712" y="2944368"/>
            <a:ext cx="37856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4A261"/>
                </a:solidFill>
                <a:latin typeface="Segoe UI"/>
              </a:rPr>
              <a:t>Operational Implication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When 28°C is forecast 2 days ahead, pre-position extra technician shifts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Proactive scheduling reduces backlog build-up by estimated 30-40%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57200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18120" y="4572000"/>
            <a:ext cx="411480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82712" y="4681728"/>
            <a:ext cx="37856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DC653"/>
                </a:solidFill>
                <a:latin typeface="Segoe UI"/>
              </a:rPr>
              <a:t>AC PROPHET Action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The Forecaster Agent already flags &gt;28°C events automatically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Threshold Analysis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06  |  July 2025 Heatwave — Live Case Study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Real data: the 3-to-5 day installation lag after a 36.1°C apparent temperature spike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15568"/>
            <a:ext cx="832104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915400" y="1115568"/>
            <a:ext cx="30632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15400" y="1115568"/>
            <a:ext cx="30632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79992" y="1225295"/>
            <a:ext cx="2734056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E63946"/>
                </a:solidFill>
                <a:latin typeface="Segoe UI"/>
              </a:rPr>
              <a:t>The Trigger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00">
                <a:solidFill>
                  <a:srgbClr val="2D3748"/>
                </a:solidFill>
                <a:latin typeface="Segoe UI"/>
              </a:rPr>
              <a:t>▸  Jul 20 (Sun): 36.1°C apparent temp spike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00">
                <a:solidFill>
                  <a:srgbClr val="2D3748"/>
                </a:solidFill>
                <a:latin typeface="Segoe UI"/>
              </a:rPr>
              <a:t>▸  Online bookings surge immediately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915400" y="2651760"/>
            <a:ext cx="3063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2651760"/>
            <a:ext cx="30632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9992" y="2761488"/>
            <a:ext cx="2734056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4A261"/>
                </a:solidFill>
                <a:latin typeface="Segoe UI"/>
              </a:rPr>
              <a:t>The Lag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00">
                <a:solidFill>
                  <a:srgbClr val="2D3748"/>
                </a:solidFill>
                <a:latin typeface="Segoe UI"/>
              </a:rPr>
              <a:t>▸  Jul 21-25: Postings climb to 916/day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00">
                <a:solidFill>
                  <a:srgbClr val="2D3748"/>
                </a:solidFill>
                <a:latin typeface="Segoe UI"/>
              </a:rPr>
              <a:t>▸  Jul 28: Historic peak of 1,318 jobs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00">
                <a:solidFill>
                  <a:srgbClr val="2D3748"/>
                </a:solidFill>
                <a:latin typeface="Segoe UI"/>
              </a:rPr>
              <a:t>▸  Completions peak 3-5 days LATER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15400" y="4462272"/>
            <a:ext cx="30632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15400" y="4462272"/>
            <a:ext cx="306324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4572000"/>
            <a:ext cx="2734056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2DC653"/>
                </a:solidFill>
                <a:latin typeface="Segoe UI"/>
              </a:rPr>
              <a:t>Lesson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00">
                <a:solidFill>
                  <a:srgbClr val="2D3748"/>
                </a:solidFill>
                <a:latin typeface="Segoe UI"/>
              </a:rPr>
              <a:t>▸  Pre-position teams BEFORE the wave,
not after — 3-day advance warning is 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Heatwave Case Study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07  |  Monthly Volume Heatmap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Peak season is July — consistently the busiest month across all three years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371600"/>
            <a:ext cx="8869680" cy="34747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074920"/>
            <a:ext cx="53035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5074920"/>
            <a:ext cx="530352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5184648"/>
            <a:ext cx="49743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1E51A4"/>
                </a:solidFill>
                <a:latin typeface="Segoe UI"/>
              </a:rPr>
              <a:t>July is Peak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July is consistently the highest-volume month across 2023, 2024, and 2025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July 2025 alone recorded 17,163 postings — a single-month record</a:t>
            </a:r>
          </a:p>
        </p:txBody>
      </p:sp>
      <p:sp>
        <p:nvSpPr>
          <p:cNvPr id="8" name="Rectangle 7"/>
          <p:cNvSpPr/>
          <p:nvPr/>
        </p:nvSpPr>
        <p:spPr>
          <a:xfrm>
            <a:off x="5989320" y="5074920"/>
            <a:ext cx="5760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89320" y="5074920"/>
            <a:ext cx="5760720" cy="54864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3912" y="5184648"/>
            <a:ext cx="543153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4A261"/>
                </a:solidFill>
                <a:latin typeface="Segoe UI"/>
              </a:rPr>
              <a:t>August Transition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August sees completions surge as the July backlog is cleared by technician teams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>
                <a:solidFill>
                  <a:srgbClr val="2D3748"/>
                </a:solidFill>
                <a:latin typeface="Segoe UI"/>
              </a:rPr>
              <a:t>▸  Strategic: Retain overtime teams through August, not just July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Monthly Heatmap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B1F3A"/>
                </a:solidFill>
                <a:latin typeface="Segoe UI"/>
              </a:rPr>
              <a:t>08  |  Strategic Recommendations for Operations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1200" b="0" i="1">
                <a:solidFill>
                  <a:srgbClr val="718096"/>
                </a:solidFill>
                <a:latin typeface="Segoe UI"/>
              </a:rPr>
              <a:t>Data-driven actions to prepare for the 2026 peak season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188720"/>
            <a:ext cx="3657600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E51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188720"/>
            <a:ext cx="3657600" cy="438912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🌡  Temperature Alerts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3832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Trigger "High Demand" alert when Apparent Temp is forecast to exceed 28°C within 3 days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AC Prophet Forecaster Agent does this automatically and daily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188720"/>
            <a:ext cx="3657600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51960" y="1188720"/>
            <a:ext cx="3657600" cy="43891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61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👷  Pre-emptive Dispatch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3832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Pre-position extra technician teams 1-2 days BEFORE a heatwave peak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Reducing post-heatwave lag from 5 days to 1-2 days is achievable with proactive planning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Prioritise high-density Istanbul districts as the primary heat-island zones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1188720"/>
            <a:ext cx="3657600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2DC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1188720"/>
            <a:ext cx="3657600" cy="438912"/>
          </a:xfrm>
          <a:prstGeom prst="rect">
            <a:avLst/>
          </a:prstGeom>
          <a:solidFill>
            <a:srgbClr val="2DC6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261872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📦  Smart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3832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Sync warehouse stock levels to the 7-day Forecaster Agent output weekly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Schedule maintenance &amp; technician training exclusively in cool periods (&lt;22°C apparent temp)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00">
                <a:solidFill>
                  <a:srgbClr val="2D3748"/>
                </a:solidFill>
                <a:latin typeface="Segoe UI"/>
              </a:rPr>
              <a:t>▸  Plan overtime rosters for full July and August — not just the first heatwave week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309360"/>
            <a:ext cx="12191695" cy="41148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345936"/>
            <a:ext cx="11643055" cy="338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A0AEC0"/>
                </a:solidFill>
                <a:latin typeface="Segoe UI"/>
              </a:rPr>
              <a:t>AC PROPHET  ·  Data Analysis  ·  Recommendations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1780215" cy="73152"/>
          </a:xfrm>
          <a:prstGeom prst="rect">
            <a:avLst/>
          </a:prstGeom>
          <a:solidFill>
            <a:srgbClr val="1E5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241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Thank You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2000" b="1" i="0">
                <a:solidFill>
                  <a:srgbClr val="4A90E2"/>
                </a:solidFill>
                <a:latin typeface="Segoe UI"/>
              </a:rPr>
              <a:t>AC PROPHET  ·  Heatwave-Driven Demand Analysis</a:t>
            </a:r>
          </a:p>
          <a:p>
            <a:pPr algn="l">
              <a:spcBef>
                <a:spcPts val="1000"/>
              </a:spcBef>
              <a:spcAft>
                <a:spcPts val="600"/>
              </a:spcAft>
            </a:pPr>
            <a:r>
              <a:rPr sz="1300" b="0" i="1">
                <a:solidFill>
                  <a:srgbClr val="718096"/>
                </a:solidFill>
                <a:latin typeface="Segoe UI"/>
              </a:rPr>
              <a:t>A data-driven framework for operational excellence in Samsung HVAC service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4572000"/>
            <a:ext cx="11338560" cy="14630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4A90E2"/>
                </a:solidFill>
                <a:latin typeface="Segoe UI"/>
              </a:rPr>
              <a:t>109,853</a:t>
            </a:r>
          </a:p>
          <a:p>
            <a:pPr algn="ctr"/>
            <a:r>
              <a:rPr sz="900">
                <a:solidFill>
                  <a:srgbClr val="718096"/>
                </a:solidFill>
                <a:latin typeface="Segoe UI"/>
              </a:rPr>
              <a:t>Total historical job records analysed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466344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4A90E2"/>
                </a:solidFill>
                <a:latin typeface="Segoe UI"/>
              </a:rPr>
              <a:t>0.783</a:t>
            </a:r>
          </a:p>
          <a:p>
            <a:pPr algn="ctr"/>
            <a:r>
              <a:rPr sz="900">
                <a:solidFill>
                  <a:srgbClr val="718096"/>
                </a:solidFill>
                <a:latin typeface="Segoe UI"/>
              </a:rPr>
              <a:t>Peak Pearson correlation (Temp vs Demand)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466344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4A90E2"/>
                </a:solidFill>
                <a:latin typeface="Segoe UI"/>
              </a:rPr>
              <a:t>36.1°C</a:t>
            </a:r>
          </a:p>
          <a:p>
            <a:pPr algn="ctr"/>
            <a:r>
              <a:rPr sz="900">
                <a:solidFill>
                  <a:srgbClr val="718096"/>
                </a:solidFill>
                <a:latin typeface="Segoe UI"/>
              </a:rPr>
              <a:t>Maximum apparent temperature recorded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4663440"/>
            <a:ext cx="27432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4A90E2"/>
                </a:solidFill>
                <a:latin typeface="Segoe UI"/>
              </a:rPr>
              <a:t>1,318</a:t>
            </a:r>
          </a:p>
          <a:p>
            <a:pPr algn="ctr"/>
            <a:r>
              <a:rPr sz="900">
                <a:solidFill>
                  <a:srgbClr val="718096"/>
                </a:solidFill>
                <a:latin typeface="Segoe UI"/>
              </a:rPr>
              <a:t>Peak daily job postings (Jul 28, 2025)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30936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718096"/>
                </a:solidFill>
                <a:latin typeface="Segoe UI"/>
              </a:rPr>
              <a:t>Samsung HVAC Business Development  ·  AI Agent Group  ·  Confidential – For CEO Review  ·  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