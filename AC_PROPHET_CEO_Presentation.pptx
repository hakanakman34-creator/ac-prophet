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o_presentation_bg_1780386169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Segoe UI Light"/>
              </a:defRPr>
            </a:pPr>
            <a:r>
              <a:t>AC PROPHET</a:t>
            </a:r>
          </a:p>
          <a:p>
            <a:pPr algn="ctr">
              <a:spcBef>
                <a:spcPts val="1000"/>
              </a:spcBef>
              <a:defRPr sz="2800">
                <a:solidFill>
                  <a:srgbClr val="00C8FF"/>
                </a:solidFill>
                <a:latin typeface="Segoe UI"/>
              </a:defRPr>
            </a:pPr>
            <a:r>
              <a:t>AI-Driven Peak Season Operations &amp; Dispatch Control Center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o_presentation_bg_1780386169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i_hvac_optimization_17803861452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Vision &amp; Value Proposition</a:t>
            </a:r>
          </a:p>
          <a:p>
            <a:pPr>
              <a:spcBef>
                <a:spcPts val="2400"/>
              </a:spcBef>
              <a:defRPr sz="2200" b="1">
                <a:solidFill>
                  <a:srgbClr val="00C8FF"/>
                </a:solidFill>
              </a:defRPr>
            </a:pPr>
            <a:r>
              <a:t>The Peak Season Challenge</a:t>
            </a:r>
          </a:p>
          <a:p>
            <a:pPr>
              <a:spcBef>
                <a:spcPts val="600"/>
              </a:spcBef>
              <a:defRPr sz="1600">
                <a:solidFill>
                  <a:srgbClr val="E6EBF1"/>
                </a:solidFill>
              </a:defRPr>
            </a:pPr>
            <a:r>
              <a:t>During extreme summer waves, manual dispatching fails to optimize workforce capacity, leading to accumulating backlogs and reduced customer satisfaction.</a:t>
            </a:r>
          </a:p>
          <a:p>
            <a:pPr>
              <a:spcBef>
                <a:spcPts val="2400"/>
              </a:spcBef>
              <a:defRPr sz="2200" b="1">
                <a:solidFill>
                  <a:srgbClr val="00C8FF"/>
                </a:solidFill>
              </a:defRPr>
            </a:pPr>
            <a:r>
              <a:t>The AI Revolution</a:t>
            </a:r>
          </a:p>
          <a:p>
            <a:pPr>
              <a:spcBef>
                <a:spcPts val="600"/>
              </a:spcBef>
              <a:defRPr sz="1600">
                <a:solidFill>
                  <a:srgbClr val="E6EBF1"/>
                </a:solidFill>
              </a:defRPr>
            </a:pPr>
            <a:r>
              <a:t>AC PROPHET shifts operations from reactive firefighting to predictive, automated capacity management.</a:t>
            </a:r>
          </a:p>
          <a:p>
            <a:pPr>
              <a:spcBef>
                <a:spcPts val="2400"/>
              </a:spcBef>
              <a:defRPr sz="2200" b="1">
                <a:solidFill>
                  <a:srgbClr val="00C8FF"/>
                </a:solidFill>
              </a:defRPr>
            </a:pPr>
            <a:r>
              <a:t>Operational Efficiency Reimagined</a:t>
            </a:r>
          </a:p>
          <a:p>
            <a:pPr>
              <a:spcBef>
                <a:spcPts val="600"/>
              </a:spcBef>
              <a:defRPr sz="1600">
                <a:solidFill>
                  <a:srgbClr val="E6EBF1"/>
                </a:solidFill>
              </a:defRPr>
            </a:pPr>
            <a:r>
              <a:t>Achieve up to 40% reduction in average wait times through intelligent load balancing and zero-touch tactical dispatching.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o_presentation_bg_1780386169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Next-Generation Multi-Agent Architecture</a:t>
            </a:r>
          </a:p>
        </p:txBody>
      </p:sp>
      <p:pic>
        <p:nvPicPr>
          <p:cNvPr id="4" name="Picture 3" descr="ai_workflow_diagram_1780386158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5943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0"/>
              </a:spcBef>
              <a:defRPr sz="2200" b="1">
                <a:solidFill>
                  <a:srgbClr val="00C8FF"/>
                </a:solidFill>
              </a:defRPr>
            </a:pPr>
            <a:r>
              <a:t>1. Forecaster Agent</a:t>
            </a:r>
          </a:p>
          <a:p>
            <a:pPr>
              <a:spcBef>
                <a:spcPts val="600"/>
              </a:spcBef>
              <a:defRPr sz="1400">
                <a:solidFill>
                  <a:srgbClr val="E6EBF1"/>
                </a:solidFill>
              </a:defRPr>
            </a:pPr>
            <a:r>
              <a:t>Fuses 7-day weather predictions with historical backlog trends to predict real incoming daily volumes.</a:t>
            </a:r>
          </a:p>
          <a:p>
            <a:pPr>
              <a:spcBef>
                <a:spcPts val="2000"/>
              </a:spcBef>
              <a:defRPr sz="2200" b="1">
                <a:solidFill>
                  <a:srgbClr val="00C8FF"/>
                </a:solidFill>
              </a:defRPr>
            </a:pPr>
            <a:r>
              <a:t>2. Watchdog Agent</a:t>
            </a:r>
          </a:p>
          <a:p>
            <a:pPr>
              <a:spcBef>
                <a:spcPts val="600"/>
              </a:spcBef>
              <a:defRPr sz="1400">
                <a:solidFill>
                  <a:srgbClr val="E6EBF1"/>
                </a:solidFill>
              </a:defRPr>
            </a:pPr>
            <a:r>
              <a:t>Cross-references predictions against daily service capacities, identifying critical failure zones and wait-time bottlenecks.</a:t>
            </a:r>
          </a:p>
          <a:p>
            <a:pPr>
              <a:spcBef>
                <a:spcPts val="2000"/>
              </a:spcBef>
              <a:defRPr sz="2200" b="1">
                <a:solidFill>
                  <a:srgbClr val="00C8FF"/>
                </a:solidFill>
              </a:defRPr>
            </a:pPr>
            <a:r>
              <a:t>3. Commander Agent</a:t>
            </a:r>
          </a:p>
          <a:p>
            <a:pPr>
              <a:spcBef>
                <a:spcPts val="600"/>
              </a:spcBef>
              <a:defRPr sz="1400">
                <a:solidFill>
                  <a:srgbClr val="E6EBF1"/>
                </a:solidFill>
              </a:defRPr>
            </a:pPr>
            <a:r>
              <a:t>Autonomously drafts tactical orders to shift resources from underutilized districts to critical zones before delays occur.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o_presentation_bg_1780386169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Future-Proof &amp; Cloud 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3657600"/>
          </a:xfrm>
          <a:prstGeom prst="roundRect">
            <a:avLst/>
          </a:prstGeom>
          <a:solidFill>
            <a:srgbClr val="0F1E32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Operational Impact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Eliminates manual guessing in dispatch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Instantly visualizes crisis zones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Provides actionable, written orders daily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Maintains high CSAT during extreme heat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4846320" cy="3657600"/>
          </a:xfrm>
          <a:prstGeom prst="roundRect">
            <a:avLst/>
          </a:prstGeom>
          <a:solidFill>
            <a:srgbClr val="0F1E32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>
                <a:solidFill>
                  <a:srgbClr val="00C8FF"/>
                </a:solidFill>
              </a:defRPr>
            </a:pPr>
            <a:r>
              <a:t>Google Cloud Roadmap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Serverless execution with Cloud Run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Cost-effective, scale-to-zero infrastructure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Live Google Sheets API integrations</a:t>
            </a:r>
          </a:p>
          <a:p>
            <a:pPr>
              <a:spcBef>
                <a:spcPts val="1400"/>
              </a:spcBef>
              <a:defRPr sz="1600">
                <a:solidFill>
                  <a:srgbClr val="E6EBF1"/>
                </a:solidFill>
              </a:defRPr>
            </a:pPr>
            <a:r>
              <a:t>• 100% Data persistence &amp; enterprise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eo_presentation_bg_1780386169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0" y="2286000"/>
            <a:ext cx="8534095" cy="2286000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8534095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egoe UI Light"/>
              </a:defRPr>
            </a:pPr>
            <a:r>
              <a:t>Transforming Operations, Today.</a:t>
            </a:r>
          </a:p>
          <a:p>
            <a:pPr algn="ctr">
              <a:spcBef>
                <a:spcPts val="1000"/>
              </a:spcBef>
              <a:defRPr sz="2400">
                <a:solidFill>
                  <a:srgbClr val="00C8FF"/>
                </a:solidFill>
                <a:latin typeface="Segoe UI"/>
              </a:defRPr>
            </a:pPr>
            <a:r>
              <a:t>Thank You | AI Multi-Agent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