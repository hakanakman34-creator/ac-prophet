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AC PROPHET</a:t>
            </a:r>
          </a:p>
          <a:p>
            <a:pPr>
              <a:spcBef>
                <a:spcPts val="800"/>
              </a:spcBef>
              <a:defRPr sz="2200" b="1">
                <a:solidFill>
                  <a:srgbClr val="1E51A4"/>
                </a:solidFill>
                <a:latin typeface="Segoe UI"/>
              </a:defRPr>
            </a:pPr>
            <a:r>
              <a:t>Heatwave-Driven Demand &amp; Service Capacity Analysis</a:t>
            </a:r>
          </a:p>
          <a:p>
            <a:pPr>
              <a:spcBef>
                <a:spcPts val="1600"/>
              </a:spcBef>
              <a:defRPr sz="1400">
                <a:solidFill>
                  <a:srgbClr val="A0AEC0"/>
                </a:solidFill>
                <a:latin typeface="Segoe UI"/>
              </a:defRPr>
            </a:pPr>
            <a:r>
              <a:t>A 3-Year Historical Study of Temperature, Purchase Behaviors, and Service Bottlenecks</a:t>
            </a:r>
          </a:p>
          <a:p>
            <a:pPr>
              <a:spcBef>
                <a:spcPts val="5000"/>
              </a:spcBef>
              <a:defRPr sz="1100">
                <a:solidFill>
                  <a:srgbClr val="718096"/>
                </a:solidFill>
                <a:latin typeface="Segoe UI"/>
              </a:defRPr>
            </a:pPr>
            <a:r>
              <a:t>Samsung HVAC Decision Support Dashboard | Business Development &amp; AI Agent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1. Executive Summary &amp; Historical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47548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48056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Strategic Insights &amp; Volume Trends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Objective: Quantify weather impacts on service request volumes and identify capacity thresholds.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Massive YoY Volume Expansion in Istanbul:
  • 2023 Season: 11,200 baseline jobs
  • 2024 Season: 21,900 jobs (+95% YoY growth)
  • 2025 Season: 31,600 jobs (+44% YoY growth / 3x in 2 years)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Simpson's Paradox Note: Fast overall volume growth masks daily weather signals in combined pools. Detrending data year-by-year is required to reveal the true correlation.</a:t>
            </a:r>
          </a:p>
        </p:txBody>
      </p:sp>
      <p:pic>
        <p:nvPicPr>
          <p:cNvPr id="6" name="Picture 5" descr="plot_yoy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669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2. Weekly Seasonality &amp; Weather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47548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48056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The Weekend Operational Drop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Weekend Drop: Weekday postings average 282-286 jobs, while Sundays collapse to just 51 new postings and 42 completions.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This heavy 7-day cyclical seasonality introduces massive weekend noise that completely hides temperature effects on a daily basis.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Smoothing the series with a 7-day rolling window uncovers a very strong positive correlation between Apparent Temp &amp; jobs: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2023 Season Correlation (7-day Smoothed):
  • Apparent Temp vs Demand (Postings): 0.7828
  • Apparent Temp vs Installations (Completions): 0.7774</a:t>
            </a:r>
          </a:p>
        </p:txBody>
      </p:sp>
      <p:pic>
        <p:nvPicPr>
          <p:cNvPr id="6" name="Picture 5" descr="plot_weekly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669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3. Capacity Bottlenecks &amp; Lead Time Stretch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47548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48056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How Heatwaves Stretch Backlogs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Lead Time Definition: Exact days between posting date and completion date (COMPLETE_DT - POSTING_DATE).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Capacity Saturation Proof (2025 Data):
  • Cool Weather (&lt;22°C): Median lead time is 0 days.
  • Hot Weather (28-31°C): Median lead time rises to 2 days.
  • Extremely Hot (31°C+): Median lead time reaches 3 days.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During extreme heatwaves, technician limits are fully saturated, stretching average installation times and leaving 10% of customers waiting over 7 days.</a:t>
            </a:r>
          </a:p>
        </p:txBody>
      </p:sp>
      <p:pic>
        <p:nvPicPr>
          <p:cNvPr id="6" name="Picture 5" descr="plot_le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669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4. July 2025 Heatwave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47548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48056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Chronology of the 3-5 Day Lag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July 20 (Sunday): Extreme Apparent Temp reaches 36.1°C, triggering immediate online bookings.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July 21-25: Daily postings skyrocket, peaking at 916 new jobs on Friday, July 25.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July 28 (Monday): Postings reach an absolute peak of 1,318 new jobs following the heatwaves.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Installation Lag: Completed installations peak at 635 on July 24 and 681 on July 26, delayed by exactly 3 to 5 days behind the temperature peak.</a:t>
            </a:r>
          </a:p>
        </p:txBody>
      </p:sp>
      <p:pic>
        <p:nvPicPr>
          <p:cNvPr id="6" name="Picture 5" descr="plot_heatwav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669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5. Strategic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Predictive Capacity &amp; Dispatch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Weather Threshold Alerter: Trigger automated operational alerts and prepare extra teams 1-2 days before a forecasted Apparent Temp &gt; 28°C event.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Dynamic Backlog Routing: Automatically redirect carryover backlogs to adjacent low-stress service centers with active team buffers.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Pre-emptive Technician Shift: Pre-arrange technician shifts and overtime limits to align with the peak lag waves (3-5 days post-heatwave).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Data-Driven Operations &amp; Inventory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Forecaster Integration: Sync warehouse inventory stock levels with the 7-day Forecaster Agent outputs to prevent logistics shortages during demand surges.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Smart Maintenance Scheduling: Schedule technician vacations, training and IT system upgrades exclusively during cool periods (&lt;22°C Apparent Temp).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4A5568"/>
                </a:solidFill>
                <a:latin typeface="Segoe UI"/>
              </a:rPr>
              <a:t>• Model Improvements: Incorporate relative humidity into baseline predictive models to capture the true Apparent Temperature, which is a far better predictor than dry-bulb temperature.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1600"/>
              </a:spcBef>
              <a:defRPr sz="1800">
                <a:solidFill>
                  <a:srgbClr val="1E51A4"/>
                </a:solidFill>
                <a:latin typeface="Segoe UI"/>
              </a:defRPr>
            </a:pPr>
            <a:r>
              <a:t>AC PROPHET - Operational Stability &amp; Capacity Dispatch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